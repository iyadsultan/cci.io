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%</c:v>
                </c:pt>
              </c:strCache>
            </c:strRef>
          </c:tx>
          <c:spPr>
            <a:solidFill>
              <a:srgbClr val="C462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62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Claude 3.5 Sonnet v2</c:v>
                  </c:pt>
                  <c:pt idx="1">
                    <c:v>GPT-4o</c:v>
                  </c:pt>
                  <c:pt idx="2">
                    <c:v>DeepSeek-V3 (685B)</c:v>
                  </c:pt>
                  <c:pt idx="3">
                    <c:v>Gemini 1.5 Pro</c:v>
                  </c:pt>
                  <c:pt idx="4">
                    <c:v>GPT-4o-mini</c:v>
                  </c:pt>
                  <c:pt idx="5">
                    <c:v>o3-mini</c:v>
                  </c:pt>
                  <c:pt idx="6">
                    <c:v>Qwen2.5 (72B)</c:v>
                  </c:pt>
                  <c:pt idx="7">
                    <c:v>Llama 3.3 (70B)</c:v>
                  </c:pt>
                  <c:pt idx="8">
                    <c:v>Gemini 2.0 Flash</c:v>
                  </c:pt>
                  <c:pt idx="9">
                    <c:v>Gemma2 (27B)</c:v>
                  </c:pt>
                  <c:pt idx="10">
                    <c:v>Mistral v0.3 (7B)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69.67</c:v>
                </c:pt>
                <c:pt idx="1">
                  <c:v>64</c:v>
                </c:pt>
                <c:pt idx="2">
                  <c:v>62.67</c:v>
                </c:pt>
                <c:pt idx="3">
                  <c:v>62</c:v>
                </c:pt>
                <c:pt idx="4">
                  <c:v>56.33</c:v>
                </c:pt>
                <c:pt idx="5">
                  <c:v>51.67</c:v>
                </c:pt>
                <c:pt idx="6">
                  <c:v>51.33</c:v>
                </c:pt>
                <c:pt idx="7">
                  <c:v>46.33</c:v>
                </c:pt>
                <c:pt idx="8">
                  <c:v>38.33</c:v>
                </c:pt>
                <c:pt idx="9">
                  <c:v>19.33</c:v>
                </c:pt>
                <c:pt idx="10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8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5080" cap="flat">
              <a:solidFill>
                <a:srgbClr val="E8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8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Query SR %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C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Claude 3.5
Sonnet v2</c:v>
                  </c:pt>
                  <c:pt idx="1">
                    <c:v>GPT-4o</c:v>
                  </c:pt>
                  <c:pt idx="2">
                    <c:v>DeepSeek-V3</c:v>
                  </c:pt>
                  <c:pt idx="3">
                    <c:v>Gemini 1.5
Pro</c:v>
                  </c:pt>
                  <c:pt idx="4">
                    <c:v>GPT-4o-mini</c:v>
                  </c:pt>
                  <c:pt idx="5">
                    <c:v>o3-mini</c:v>
                  </c:pt>
                  <c:pt idx="6">
                    <c:v>Qwen2.5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85.33</c:v>
                </c:pt>
                <c:pt idx="1">
                  <c:v>72</c:v>
                </c:pt>
                <c:pt idx="2">
                  <c:v>70.67</c:v>
                </c:pt>
                <c:pt idx="3">
                  <c:v>52.67</c:v>
                </c:pt>
                <c:pt idx="4">
                  <c:v>59.33</c:v>
                </c:pt>
                <c:pt idx="5">
                  <c:v>54.67</c:v>
                </c:pt>
                <c:pt idx="6">
                  <c:v>38.67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Action SR %</c:v>
                </c:pt>
              </c:strCache>
            </c:strRef>
          </c:tx>
          <c:spPr>
            <a:solidFill>
              <a:srgbClr val="C462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C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Claude 3.5
Sonnet v2</c:v>
                  </c:pt>
                  <c:pt idx="1">
                    <c:v>GPT-4o</c:v>
                  </c:pt>
                  <c:pt idx="2">
                    <c:v>DeepSeek-V3</c:v>
                  </c:pt>
                  <c:pt idx="3">
                    <c:v>Gemini 1.5
Pro</c:v>
                  </c:pt>
                  <c:pt idx="4">
                    <c:v>GPT-4o-mini</c:v>
                  </c:pt>
                  <c:pt idx="5">
                    <c:v>o3-mini</c:v>
                  </c:pt>
                  <c:pt idx="6">
                    <c:v>Qwen2.5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54</c:v>
                </c:pt>
                <c:pt idx="1">
                  <c:v>56</c:v>
                </c:pt>
                <c:pt idx="2">
                  <c:v>54.67</c:v>
                </c:pt>
                <c:pt idx="3">
                  <c:v>71.33</c:v>
                </c:pt>
                <c:pt idx="4">
                  <c:v>53.33</c:v>
                </c:pt>
                <c:pt idx="5">
                  <c:v>48.67</c:v>
                </c:pt>
                <c:pt idx="6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C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8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5080" cap="flat">
              <a:solidFill>
                <a:srgbClr val="E8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98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C2B4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457200"/>
            <a:ext cx="73152" cy="4206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57200"/>
            <a:ext cx="320040" cy="731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4590288"/>
            <a:ext cx="320040" cy="731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42248" y="457200"/>
            <a:ext cx="73152" cy="4206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457200"/>
            <a:ext cx="320040" cy="731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4590288"/>
            <a:ext cx="320040" cy="731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548640"/>
            <a:ext cx="7863840" cy="0"/>
          </a:xfrm>
          <a:prstGeom prst="line">
            <a:avLst/>
          </a:prstGeom>
          <a:noFill/>
          <a:ln w="6350">
            <a:solidFill>
              <a:srgbClr val="C8C5B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7863840" cy="0"/>
          </a:xfrm>
          <a:prstGeom prst="line">
            <a:avLst/>
          </a:prstGeom>
          <a:noFill/>
          <a:ln w="6350">
            <a:solidFill>
              <a:srgbClr val="C8C5B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2103120"/>
            <a:ext cx="7863840" cy="0"/>
          </a:xfrm>
          <a:prstGeom prst="line">
            <a:avLst/>
          </a:prstGeom>
          <a:noFill/>
          <a:ln w="6350">
            <a:solidFill>
              <a:srgbClr val="C8C5B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40080" y="2880360"/>
            <a:ext cx="7863840" cy="0"/>
          </a:xfrm>
          <a:prstGeom prst="line">
            <a:avLst/>
          </a:prstGeom>
          <a:noFill/>
          <a:ln w="6350">
            <a:solidFill>
              <a:srgbClr val="C8C5B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" y="3657600"/>
            <a:ext cx="7863840" cy="0"/>
          </a:xfrm>
          <a:prstGeom prst="line">
            <a:avLst/>
          </a:prstGeom>
          <a:noFill/>
          <a:ln w="6350">
            <a:solidFill>
              <a:srgbClr val="C8C5B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4434840"/>
            <a:ext cx="7863840" cy="0"/>
          </a:xfrm>
          <a:prstGeom prst="line">
            <a:avLst/>
          </a:prstGeom>
          <a:noFill/>
          <a:ln w="6350">
            <a:solidFill>
              <a:srgbClr val="C8C5B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22960" y="64008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MedAgentBench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22960" y="17830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EHR Environment to Benchmark Medical LLM Agents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00400" y="2514600"/>
            <a:ext cx="2743200" cy="54864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27432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97280" y="2743200"/>
            <a:ext cx="109728" cy="11430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7889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280160" y="3429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Tasks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20440" y="27432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20440" y="2743200"/>
            <a:ext cx="109728" cy="11430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27889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703320" y="3429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27432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2743200"/>
            <a:ext cx="109728" cy="11430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7889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126480" y="3429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Tested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4069080"/>
            <a:ext cx="7498080" cy="685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0690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Obeidat  </a:t>
            </a:r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Clinical Pharmacist, KHCC  |  MSc Cancer Care Informatics  |  Prompt Engineering Course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17520" y="4800600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E8E6E0"/>
          </a:solidFill>
          <a:ln w="12700">
            <a:solidFill>
              <a:srgbClr val="9B98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4800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Jiang et al.  ·  NEJM AI 2025  ·  Stanford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chatbot to teammate: the clinical AI shift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 longer just answering questions — it is taking autonomous clinical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886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3886200" cy="411480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LLM  (The Tool)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the treatment for CAP?"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3657600" cy="1371600"/>
          </a:xfrm>
          <a:prstGeom prst="rect">
            <a:avLst/>
          </a:prstGeom>
          <a:solidFill>
            <a:srgbClr val="E8E6E0"/>
          </a:solidFill>
          <a:ln w="12700">
            <a:solidFill>
              <a:srgbClr val="C8C5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688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guideline text.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isolated response.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patient data.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ends here.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3657600" cy="640080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931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planning  ·  No tools  ·  No iteration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417320"/>
            <a:ext cx="38862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417320"/>
            <a:ext cx="3886200" cy="4114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41732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 (The Teammate)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"Prepare a CAP plan for this patient."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395728"/>
            <a:ext cx="164592" cy="164592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3774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patient risk scores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2697480"/>
            <a:ext cx="164592" cy="164592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26791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Pseudomonas risk factors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2999232"/>
            <a:ext cx="164592" cy="164592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98094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drug interactions &amp; allergies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300984"/>
            <a:ext cx="164592" cy="164592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28269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local antibiogram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3602736"/>
            <a:ext cx="164592" cy="164592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358444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antibiotic orders for sign-off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3904488"/>
            <a:ext cx="164592" cy="164592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8862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follow-up autonomously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spend only 27% of their time on direct patient care — the rest is admin. Agents address this.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Benchmark Paradigm Shift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MedQA is the written exam — and MedAgentBench is the clinical shift.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468880" cy="411480"/>
          </a:xfrm>
          <a:prstGeom prst="rect">
            <a:avLst/>
          </a:prstGeom>
          <a:solidFill>
            <a:srgbClr val="E8E6E0"/>
          </a:solidFill>
          <a:ln w="12700">
            <a:solidFill>
              <a:srgbClr val="9B98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Diagnostic Criteria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80360" y="1143000"/>
            <a:ext cx="2606040" cy="411480"/>
          </a:xfrm>
          <a:prstGeom prst="rect">
            <a:avLst/>
          </a:prstGeom>
          <a:solidFill>
            <a:srgbClr val="E8E6E0"/>
          </a:solidFill>
          <a:ln w="12700">
            <a:solidFill>
              <a:srgbClr val="9B98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143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Benchmarks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0" y="1143000"/>
            <a:ext cx="3200400" cy="411480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1143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MedAgentBench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459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0360" y="1645920"/>
            <a:ext cx="2606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64592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closed QA datasets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32120" y="1645920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6459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FHIR-compliant EHR in a Docker container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395728"/>
            <a:ext cx="2468880" cy="658368"/>
          </a:xfrm>
          <a:prstGeom prst="rect">
            <a:avLst/>
          </a:prstGeom>
          <a:solidFill>
            <a:srgbClr val="F5F3EE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9572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80360" y="2395728"/>
            <a:ext cx="2606040" cy="658368"/>
          </a:xfrm>
          <a:prstGeom prst="rect">
            <a:avLst/>
          </a:prstGeom>
          <a:solidFill>
            <a:srgbClr val="F5F3EE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39572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questions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32120" y="2395728"/>
            <a:ext cx="3200400" cy="658368"/>
          </a:xfrm>
          <a:prstGeom prst="rect">
            <a:avLst/>
          </a:prstGeom>
          <a:solidFill>
            <a:srgbClr val="F5F3EE"/>
          </a:solidFill>
          <a:ln w="12700">
            <a:solidFill>
              <a:srgbClr val="B8D4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39572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HTTP requests: Retrieve → Reason → Act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145536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4553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80360" y="3145536"/>
            <a:ext cx="2606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314553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— superhuman scores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32120" y="3145536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145536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Unsaturated — best model maxes at 69.67%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895344"/>
            <a:ext cx="2468880" cy="658368"/>
          </a:xfrm>
          <a:prstGeom prst="rect">
            <a:avLst/>
          </a:prstGeom>
          <a:solidFill>
            <a:srgbClr val="F5F3EE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89534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stakes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80360" y="3895344"/>
            <a:ext cx="2606040" cy="658368"/>
          </a:xfrm>
          <a:prstGeom prst="rect">
            <a:avLst/>
          </a:prstGeom>
          <a:solidFill>
            <a:srgbClr val="F5F3EE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895344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consequence for errors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32120" y="3895344"/>
            <a:ext cx="3200400" cy="658368"/>
          </a:xfrm>
          <a:prstGeom prst="rect">
            <a:avLst/>
          </a:prstGeom>
          <a:solidFill>
            <a:srgbClr val="F5F3EE"/>
          </a:solidFill>
          <a:ln w="12700">
            <a:solidFill>
              <a:srgbClr val="B8D4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3895344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consequences; migrates to real hospital systems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benchmark requiring autonomous interaction with a real medical record environment  ·  Publicly available: github.com/stanfordmlgroup/MedAgentBench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MedAgentBench: three pillars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The Tasks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2468880" cy="0"/>
          </a:xfrm>
          <a:prstGeom prst="line">
            <a:avLst/>
          </a:prstGeom>
          <a:noFill/>
          <a:ln w="6350">
            <a:solidFill>
              <a:srgbClr val="E8E6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709928"/>
            <a:ext cx="109728" cy="10972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6733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patient-specific, clinically derived tasks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2295144"/>
            <a:ext cx="109728" cy="10972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2585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2 licensed internal medicine physicians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" y="2880360"/>
            <a:ext cx="109728" cy="10972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8437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categories spanning inpatient &amp; outpatient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3465576"/>
            <a:ext cx="109728" cy="10972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429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2.3 ± 1.3 steps per task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" y="4050792"/>
            <a:ext cx="109728" cy="109728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401421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require GET (query) and POST (action) requests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105156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Patients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1627632"/>
            <a:ext cx="2468880" cy="0"/>
          </a:xfrm>
          <a:prstGeom prst="line">
            <a:avLst/>
          </a:prstGeom>
          <a:noFill/>
          <a:ln w="6350">
            <a:solidFill>
              <a:srgbClr val="E8E6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10712" y="1709928"/>
            <a:ext cx="109728" cy="109728"/>
          </a:xfrm>
          <a:prstGeom prst="ellipse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75304" y="16733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realistic patient profiles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10712" y="2295144"/>
            <a:ext cx="109728" cy="109728"/>
          </a:xfrm>
          <a:prstGeom prst="ellipse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5304" y="22585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785,207 total medical records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10712" y="2880360"/>
            <a:ext cx="109728" cy="109728"/>
          </a:xfrm>
          <a:prstGeom prst="ellipse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5304" y="28437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de-identified Stanford STARR 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10712" y="3465576"/>
            <a:ext cx="109728" cy="109728"/>
          </a:xfrm>
          <a:prstGeom prst="ellipse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75304" y="3429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Labs, vitals, medications, diagnoses, procedures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10712" y="4050792"/>
            <a:ext cx="109728" cy="109728"/>
          </a:xfrm>
          <a:prstGeom prst="ellipse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75304" y="401421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58 years · 47% female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105156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1051560"/>
            <a:ext cx="2743200" cy="5029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051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 Environment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09360" y="1627632"/>
            <a:ext cx="2468880" cy="0"/>
          </a:xfrm>
          <a:prstGeom prst="line">
            <a:avLst/>
          </a:prstGeom>
          <a:noFill/>
          <a:ln w="6350">
            <a:solidFill>
              <a:srgbClr val="E8E6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36792" y="1709928"/>
            <a:ext cx="109728" cy="109728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1384" y="16733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FHIR-compliant interactive EHR environment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36792" y="2295144"/>
            <a:ext cx="109728" cy="109728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01384" y="22585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open-source HAPI FHIR JPA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36792" y="2880360"/>
            <a:ext cx="109728" cy="109728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01384" y="28437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 on Google Cloud Platform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36792" y="3465576"/>
            <a:ext cx="109728" cy="109728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01384" y="3429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HTTP API (GET/POST) — identical to live EHRs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36792" y="4050792"/>
            <a:ext cx="109728" cy="109728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01384" y="401421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FHIR functions exposed to agents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task taxonomy: query vs.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solidFill>
            <a:srgbClr val="E8E6E0"/>
          </a:solidFill>
          <a:ln w="12700">
            <a:solidFill>
              <a:srgbClr val="9B98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2.3 steps per task  ·  150 Query tasks (GET only)  ·  150 Action tasks (POST required)  ·  Max 8 rounds per task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397764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36192"/>
            <a:ext cx="397764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361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Query-Based Tasks  (Read Only · GET)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3703320" cy="777240"/>
          </a:xfrm>
          <a:prstGeom prst="rect">
            <a:avLst/>
          </a:prstGeom>
          <a:solidFill>
            <a:srgbClr val="E8E6E0"/>
          </a:solidFill>
          <a:ln w="12700">
            <a:solidFill>
              <a:srgbClr val="C8C5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48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Information Retrieval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4871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MRN based on name and date of birth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3703320" cy="777240"/>
          </a:xfrm>
          <a:prstGeom prst="rect">
            <a:avLst/>
          </a:prstGeom>
          <a:solidFill>
            <a:srgbClr val="E8E6E0"/>
          </a:solidFill>
          <a:ln w="12700">
            <a:solidFill>
              <a:srgbClr val="C8C5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089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Result Retrieval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4472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most recent Mg level within 24 hours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3703320" cy="777240"/>
          </a:xfrm>
          <a:prstGeom prst="rect">
            <a:avLst/>
          </a:prstGeom>
          <a:solidFill>
            <a:srgbClr val="E8E6E0"/>
          </a:solidFill>
          <a:ln w="12700">
            <a:solidFill>
              <a:srgbClr val="C8C5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690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Aggregation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4074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average blood glucose over a time window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536192"/>
            <a:ext cx="397764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462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536192"/>
            <a:ext cx="3977640" cy="4572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5361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Action-Based Tasks  (Write Access · POST)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2103120"/>
            <a:ext cx="3703320" cy="777240"/>
          </a:xfrm>
          <a:prstGeom prst="rect">
            <a:avLst/>
          </a:prstGeom>
          <a:solidFill>
            <a:srgbClr val="FDF5F0"/>
          </a:solidFill>
          <a:ln w="12700">
            <a:solidFill>
              <a:srgbClr val="E8C0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148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Patient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4871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blood pressure measurement into flowsheet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063240"/>
            <a:ext cx="3703320" cy="777240"/>
          </a:xfrm>
          <a:prstGeom prst="rect">
            <a:avLst/>
          </a:prstGeom>
          <a:solidFill>
            <a:srgbClr val="FDF5F0"/>
          </a:solidFill>
          <a:ln w="12700">
            <a:solidFill>
              <a:srgbClr val="E8C0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1089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Referral Ordering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4472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HbA1C if last record is greater than 1 year old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4023360"/>
            <a:ext cx="3703320" cy="777240"/>
          </a:xfrm>
          <a:prstGeom prst="rect">
            <a:avLst/>
          </a:prstGeom>
          <a:solidFill>
            <a:srgbClr val="FDF5F0"/>
          </a:solidFill>
          <a:ln w="12700">
            <a:solidFill>
              <a:srgbClr val="E8C0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40690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Ordering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44074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K⁺ and autonomously ordering oral repletion if low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agent is evaluated: the FHIR workflow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solidFill>
            <a:srgbClr val="FDF5F0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462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 patient S1234's potassium. If below 3.5, order 10 mEq per 0.1 below threshold."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20116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40280" y="1883664"/>
            <a:ext cx="621792" cy="20116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883664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05840" y="19019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Patient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/fhir/Patient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?identifier=S1234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1828800"/>
            <a:ext cx="20116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883664"/>
            <a:ext cx="621792" cy="20116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883664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0" y="19019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K⁺ 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3317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/fhir/Observation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?code=2823-3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0116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43800" y="1883664"/>
            <a:ext cx="621792" cy="201168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1883664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09360" y="19019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Dose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3317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3.5-3.2=0.3 below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3×10mEq = 30mEq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3246120"/>
            <a:ext cx="20116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462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43800" y="3300984"/>
            <a:ext cx="621792" cy="20116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3300984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309360" y="33192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7490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/fhir/MedicReq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NDC:40032-917-01 30mEq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" y="3246120"/>
            <a:ext cx="20116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40280" y="3300984"/>
            <a:ext cx="621792" cy="201168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3300984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05840" y="33192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37490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FINISH(["Order placed: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30mEq K oral"])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6080" y="2441448"/>
            <a:ext cx="640080" cy="0"/>
          </a:xfrm>
          <a:prstGeom prst="line">
            <a:avLst/>
          </a:prstGeom>
          <a:solidFill>
            <a:srgbClr val="000000"/>
          </a:solidFill>
          <a:ln w="25400">
            <a:solidFill>
              <a:srgbClr val="2D4A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2441448"/>
            <a:ext cx="640080" cy="0"/>
          </a:xfrm>
          <a:prstGeom prst="line">
            <a:avLst/>
          </a:prstGeom>
          <a:solidFill>
            <a:srgbClr val="000000"/>
          </a:solidFill>
          <a:ln w="25400">
            <a:solidFill>
              <a:srgbClr val="2D4A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3063240"/>
            <a:ext cx="0" cy="182880"/>
          </a:xfrm>
          <a:prstGeom prst="line">
            <a:avLst/>
          </a:prstGeom>
          <a:solidFill>
            <a:srgbClr val="000000"/>
          </a:solidFill>
          <a:ln w="25400">
            <a:solidFill>
              <a:srgbClr val="C462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0" y="3858768"/>
            <a:ext cx="-667512" cy="0"/>
          </a:xfrm>
          <a:prstGeom prst="line">
            <a:avLst/>
          </a:prstGeom>
          <a:solidFill>
            <a:srgbClr val="000000"/>
          </a:solidFill>
          <a:ln w="25400">
            <a:solidFill>
              <a:srgbClr val="2D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180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one attempt  ·  max 8 rounds  ·  wrong action = FAIL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645152"/>
            <a:ext cx="8412480" cy="438912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45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pass@1: One attempt only. No retries. This mirrors real clinical stakes — a wrong medication order cannot be undone.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State-of-the-art leaderboard: 12 LLMs on MedAgentBench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62179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00584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720840" y="1005840"/>
            <a:ext cx="2057400" cy="34747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10058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66560" y="1417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fails 1 in 3 tasks. Sub-70% ceiling confirms the benchmark is unsaturated.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766560" y="2240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gap between closed-weight API and open-weight models.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20840" y="2971800"/>
            <a:ext cx="2057400" cy="1828800"/>
          </a:xfrm>
          <a:prstGeom prst="rect">
            <a:avLst/>
          </a:prstGeom>
          <a:solidFill>
            <a:srgbClr val="FDF5F0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20840" y="2971800"/>
            <a:ext cx="2057400" cy="347472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29718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Strategy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66560" y="338328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read-only retrieval assistants first — while building safety architectures for autonomous write access.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execution gap: query performance vs. action performance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051560"/>
            <a:ext cx="2514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63640" y="1051560"/>
            <a:ext cx="2514600" cy="34747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10515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146304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excel at retrieving data (GET requests) but performance degrades significantly when required to modify records (POST requests).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2834640"/>
            <a:ext cx="2514600" cy="1965960"/>
          </a:xfrm>
          <a:prstGeom prst="rect">
            <a:avLst/>
          </a:prstGeom>
          <a:solidFill>
            <a:srgbClr val="FDF5F0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2834640"/>
            <a:ext cx="2514600" cy="347472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28346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Gemini 1.5 Pro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09360" y="32461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stronger at action tasks (71.3%) than query tasks (52.7%). Architecture may handle sequential POST logic differently.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Diagnosing the failure modes: prompting, not knowledge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know the clinical answer — but fail strict API execution constraints.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69080" cy="2834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61872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261872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1261872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2344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Error Type 1: Invalid Format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3794760" cy="777240"/>
          </a:xfrm>
          <a:prstGeom prst="rect">
            <a:avLst/>
          </a:prstGeom>
          <a:solidFill>
            <a:srgbClr val="2D1515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1848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http://fhir/Patient?code=A1C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&amp;patient=S1876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Gemini 2.0 Flash fails this way in 54% of cases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715768"/>
            <a:ext cx="3794760" cy="640080"/>
          </a:xfrm>
          <a:prstGeom prst="rect">
            <a:avLst/>
          </a:prstGeom>
          <a:solidFill>
            <a:srgbClr val="0D2B1A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6148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/fhir/Patient?code=A1C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&amp;patient=S1876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1071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Expected: raw GET without markdown fences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143000"/>
            <a:ext cx="4069080" cy="2834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261872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93208" y="1261872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0096" y="1261872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2344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Error Type 2: Wrong Answer Format 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572768"/>
            <a:ext cx="3794760" cy="594360"/>
          </a:xfrm>
          <a:prstGeom prst="rect">
            <a:avLst/>
          </a:prstGeom>
          <a:solidFill>
            <a:srgbClr val="2D1515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618488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FINISH("The last HbA1C is 5.4%")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2240280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Grading script sees no match → FAIL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2532888"/>
            <a:ext cx="3794760" cy="8229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62432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FINISH([5.4])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41071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Expected: structured array only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8412480" cy="731520"/>
          </a:xfrm>
          <a:prstGeom prst="rect">
            <a:avLst/>
          </a:prstGeom>
          <a:solidFill>
            <a:srgbClr val="0F1F35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96512"/>
            <a:ext cx="91440" cy="7315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9651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well-engineered system prompt with clear output constraints and few-shot examples fixes both errors — without changing the model at all. This is prompt engineering.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APPRAISAL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oncology gap: what this benchmark misses at KHCC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828800" cy="411480"/>
          </a:xfrm>
          <a:prstGeom prst="rect">
            <a:avLst/>
          </a:prstGeom>
          <a:solidFill>
            <a:srgbClr val="E8E6E0"/>
          </a:solidFill>
          <a:ln w="12700">
            <a:solidFill>
              <a:srgbClr val="9B98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40280" y="1051560"/>
            <a:ext cx="3063240" cy="411480"/>
          </a:xfrm>
          <a:prstGeom prst="rect">
            <a:avLst/>
          </a:prstGeom>
          <a:solidFill>
            <a:srgbClr val="E8E6E0"/>
          </a:solidFill>
          <a:ln w="12700">
            <a:solidFill>
              <a:srgbClr val="9B98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0515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Benchmark Assumes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1051560"/>
            <a:ext cx="3429000" cy="4114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0515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KHCC Oncology Reality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54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1554480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1554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FHIR-native EHR environment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1554480"/>
            <a:ext cx="3429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5544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non-FHIR system — deployment requires nonexistent regional infrastructure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49424"/>
            <a:ext cx="1828800" cy="640080"/>
          </a:xfrm>
          <a:prstGeom prst="rect">
            <a:avLst/>
          </a:prstGeom>
          <a:solidFill>
            <a:srgbClr val="F5F3EE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49424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40280" y="2249424"/>
            <a:ext cx="3063240" cy="640080"/>
          </a:xfrm>
          <a:prstGeom prst="rect">
            <a:avLst/>
          </a:prstGeom>
          <a:solidFill>
            <a:srgbClr val="F5F3EE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224942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IM &amp; outpatient tasks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2249424"/>
            <a:ext cx="3429000" cy="640080"/>
          </a:xfrm>
          <a:prstGeom prst="rect">
            <a:avLst/>
          </a:prstGeom>
          <a:solidFill>
            <a:srgbClr val="F5F3EE"/>
          </a:solidFill>
          <a:ln w="12700">
            <a:solidFill>
              <a:srgbClr val="B8D4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24942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protocols, BSA dosing, cytotoxic renal/hepatic adjustments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44368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9443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40280" y="2944368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04288" y="294436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EHR fields only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2944368"/>
            <a:ext cx="3429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94436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free-text notes where dose rationales &amp; toxicity discussions live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639312"/>
            <a:ext cx="1828800" cy="640080"/>
          </a:xfrm>
          <a:prstGeom prst="rect">
            <a:avLst/>
          </a:prstGeom>
          <a:solidFill>
            <a:srgbClr val="F5F3EE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63931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diversity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40280" y="3639312"/>
            <a:ext cx="3063240" cy="640080"/>
          </a:xfrm>
          <a:prstGeom prst="rect">
            <a:avLst/>
          </a:prstGeom>
          <a:solidFill>
            <a:srgbClr val="F5F3EE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04288" y="36393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 adult inpatients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3639312"/>
            <a:ext cx="3429000" cy="640080"/>
          </a:xfrm>
          <a:prstGeom prst="rect">
            <a:avLst/>
          </a:prstGeom>
          <a:solidFill>
            <a:srgbClr val="F5F3EE"/>
          </a:solidFill>
          <a:ln w="12700">
            <a:solidFill>
              <a:srgbClr val="B8D4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3639312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Peds oncology, BMT, surgical, ICU, IMU — vastly different clinical logic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334256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34256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40280" y="4334256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04288" y="433425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isolated AI agent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49240" y="4334256"/>
            <a:ext cx="3429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4334256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+ physician + nurse + consultant — multi-disciplinary coordination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5047488"/>
            <a:ext cx="8412480" cy="3200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504748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demands specialized oncology informatics training — not just general AI adaptation.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KHCC APPLICATION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apply MedAgentBench insights at KHCC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502920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Read-Only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2560320" cy="201168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276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infrastructure building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" y="1938528"/>
            <a:ext cx="91440" cy="91440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9019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 as retrieval-only assistant (GET requests only)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" y="2505456"/>
            <a:ext cx="91440" cy="91440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review, drug interaction checking, clinical note summarization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" y="3072384"/>
            <a:ext cx="91440" cy="91440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30358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 access — zero risk of autonomous clinical errors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" y="3639312"/>
            <a:ext cx="91440" cy="91440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360273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what MedAgentBench shows models do best (85% query SR)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" y="4206240"/>
            <a:ext cx="91440" cy="91440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416966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to your Amal app architecture at KHCC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1051560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1234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FHIR Bridge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1627632"/>
            <a:ext cx="2560320" cy="201168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6276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— infrastructure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10712" y="1938528"/>
            <a:ext cx="91440" cy="91440"/>
          </a:xfrm>
          <a:prstGeom prst="ellipse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57016" y="19019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FHIR-compatible API layer over existing KHCC HIS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10712" y="2505456"/>
            <a:ext cx="91440" cy="91440"/>
          </a:xfrm>
          <a:prstGeom prst="ellipse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57016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require full EHR migration — only a translation layer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10712" y="3072384"/>
            <a:ext cx="91440" cy="91440"/>
          </a:xfrm>
          <a:prstGeom prst="ellipse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57016" y="30358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use of MedAgentBench-style benchmarking locally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10712" y="3639312"/>
            <a:ext cx="91440" cy="91440"/>
          </a:xfrm>
          <a:prstGeom prst="ellipse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57016" y="360273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oncology-specific tasks: chemo ordering, dose adjustment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10712" y="4206240"/>
            <a:ext cx="91440" cy="91440"/>
          </a:xfrm>
          <a:prstGeom prst="ellipse">
            <a:avLst/>
          </a:prstGeom>
          <a:solidFill>
            <a:srgbClr val="2D4A7A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57016" y="416966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KHCC pharmacist workflow as ground truth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72200" y="1051560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462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1051560"/>
            <a:ext cx="2743200" cy="5029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1234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Benchmark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63640" y="1627632"/>
            <a:ext cx="2560320" cy="201168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6276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— research contribution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36792" y="1938528"/>
            <a:ext cx="91440" cy="91440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83096" y="19019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KHCC-specific agent benchmark for oncology pharmacy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36792" y="2505456"/>
            <a:ext cx="91440" cy="91440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83096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BSA-based dosing, toxicity grading, FARM note generation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36792" y="3072384"/>
            <a:ext cx="91440" cy="91440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83096" y="30358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profiles from real oncology cases (peds, BMT, surgical)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36792" y="3639312"/>
            <a:ext cx="91440" cy="91440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83096" y="360273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reproducibility — not just pass@1 but pass@k reliability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36792" y="4206240"/>
            <a:ext cx="91440" cy="91440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83096" y="416966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publication: first oncology-specific agent benchmark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426464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139696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2852928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4279392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4992624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5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Knowing medicine  ≠  Practicing medicine.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325880"/>
            <a:ext cx="91440" cy="6858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3258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have mastered the written exam — but struggle with live EHR execution.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130552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30552"/>
            <a:ext cx="91440" cy="6858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130552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MedAgentBench proves the bottleneck is no longer clinical knowledge — it is system engineering.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35224"/>
            <a:ext cx="91440" cy="6858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35224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medical AI at KHCC depends on rigorous prompt engineering and system design, not just smarter base models.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8229600" cy="594360"/>
          </a:xfrm>
          <a:prstGeom prst="rect">
            <a:avLst/>
          </a:prstGeom>
          <a:solidFill>
            <a:srgbClr val="0D1F38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587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Models  +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 +  API Orchestration  +  Clinical Governance</a:t>
            </a:r>
            <a:pPr algn="ctr" indent="0" marL="0">
              <a:buNone/>
            </a:pPr>
            <a:r>
              <a:rPr lang="en-US" sz="13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Autonomous Clinical Action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0" y="4572000"/>
            <a:ext cx="4572000" cy="347472"/>
          </a:xfrm>
          <a:prstGeom prst="rect">
            <a:avLst/>
          </a:prstGeom>
          <a:solidFill>
            <a:srgbClr val="0D1F38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45720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github.com/stanfordmlgroup/MedAgentBench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MedAgentBench — Clinical AI Benchmarking</dc:title>
  <dc:subject>PptxGenJS Presentation</dc:subject>
  <dc:creator>Abdullah Obeidat</dc:creator>
  <cp:lastModifiedBy>Abdullah Obeidat</cp:lastModifiedBy>
  <cp:revision>1</cp:revision>
  <dcterms:created xsi:type="dcterms:W3CDTF">2026-05-16T09:16:25Z</dcterms:created>
  <dcterms:modified xsi:type="dcterms:W3CDTF">2026-05-16T09:16:25Z</dcterms:modified>
</cp:coreProperties>
</file>